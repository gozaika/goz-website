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8736096a045c3" /><Relationship Type="http://schemas.openxmlformats.org/officeDocument/2006/relationships/extended-properties" Target="/docProps/app.xml" Id="Ra6b248a7b1604b1e" /><Relationship Type="http://schemas.openxmlformats.org/officeDocument/2006/relationships/officeDocument" Target="/ppt/presentation.xml" Id="R1bac455694dd4b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7637a93874012"/>
  </p:sldMasterIdLst>
  <p:notesMasterIdLst>
    <p:notesMasterId xmlns:r="http://schemas.openxmlformats.org/officeDocument/2006/relationships" r:id="Re974302a7bb845fa"/>
  </p:notesMasterIdLst>
  <p:sldIdLst>
    <p:sldId xmlns:r="http://schemas.openxmlformats.org/officeDocument/2006/relationships" id="256" r:id="R0de10b5ac86240be"/>
    <p:sldId xmlns:r="http://schemas.openxmlformats.org/officeDocument/2006/relationships" id="257" r:id="R5516945d6ca742e1"/>
    <p:sldId xmlns:r="http://schemas.openxmlformats.org/officeDocument/2006/relationships" id="258" r:id="R6bf447cacda84a89"/>
    <p:sldId xmlns:r="http://schemas.openxmlformats.org/officeDocument/2006/relationships" id="259" r:id="Rec8e48c7fad44236"/>
    <p:sldId xmlns:r="http://schemas.openxmlformats.org/officeDocument/2006/relationships" id="260" r:id="R1da479d6f0a745c6"/>
    <p:sldId xmlns:r="http://schemas.openxmlformats.org/officeDocument/2006/relationships" id="261" r:id="R2b3496c4f2c44824"/>
    <p:sldId xmlns:r="http://schemas.openxmlformats.org/officeDocument/2006/relationships" id="262" r:id="Rbdf9e400cd0642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1710d513bc403a" /><Relationship Type="http://schemas.openxmlformats.org/officeDocument/2006/relationships/slideMaster" Target="/ppt/slideMasters/slideMaster1.xml" Id="Rbb27637a93874012" /><Relationship Type="http://schemas.openxmlformats.org/officeDocument/2006/relationships/notesMaster" Target="/ppt/notesMasters/notesMaster1.xml" Id="Re974302a7bb845fa" /><Relationship Type="http://schemas.openxmlformats.org/officeDocument/2006/relationships/presProps" Target="/ppt/presProps.xml" Id="Re70617ef256f4b53" /><Relationship Type="http://schemas.openxmlformats.org/officeDocument/2006/relationships/tableStyles" Target="/ppt/tableStyles.xml" Id="Re53271f3adbf45c8" /><Relationship Type="http://schemas.openxmlformats.org/officeDocument/2006/relationships/slide" Target="/ppt/slides/slide1.xml" Id="R0de10b5ac86240be" /><Relationship Type="http://schemas.openxmlformats.org/officeDocument/2006/relationships/slide" Target="/ppt/slides/slide2.xml" Id="R5516945d6ca742e1" /><Relationship Type="http://schemas.openxmlformats.org/officeDocument/2006/relationships/slide" Target="/ppt/slides/slide3.xml" Id="R6bf447cacda84a89" /><Relationship Type="http://schemas.openxmlformats.org/officeDocument/2006/relationships/slide" Target="/ppt/slides/slide4.xml" Id="Rec8e48c7fad44236" /><Relationship Type="http://schemas.openxmlformats.org/officeDocument/2006/relationships/slide" Target="/ppt/slides/slide5.xml" Id="R1da479d6f0a745c6" /><Relationship Type="http://schemas.openxmlformats.org/officeDocument/2006/relationships/slide" Target="/ppt/slides/slide6.xml" Id="R2b3496c4f2c44824" /><Relationship Type="http://schemas.openxmlformats.org/officeDocument/2006/relationships/slide" Target="/ppt/slides/slide7.xml" Id="Rbdf9e400cd06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079de413c9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060cc342f4435c" /><Relationship Type="http://schemas.openxmlformats.org/officeDocument/2006/relationships/notesMaster" Target="/ppt/notesMasters/notesMaster1.xml" Id="R09ce8501f92144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9c4a143d3c4528" /><Relationship Type="http://schemas.openxmlformats.org/officeDocument/2006/relationships/notesMaster" Target="/ppt/notesMasters/notesMaster1.xml" Id="Raf2dba85a96244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4f8f0cf8264e97" /><Relationship Type="http://schemas.openxmlformats.org/officeDocument/2006/relationships/notesMaster" Target="/ppt/notesMasters/notesMaster1.xml" Id="R7ee05d398006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881728d95b4205" /><Relationship Type="http://schemas.openxmlformats.org/officeDocument/2006/relationships/notesMaster" Target="/ppt/notesMasters/notesMaster1.xml" Id="Rf49f83c7f82b4e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01e48ea45447c" /><Relationship Type="http://schemas.openxmlformats.org/officeDocument/2006/relationships/notesMaster" Target="/ppt/notesMasters/notesMaster1.xml" Id="R643bf21d7666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435c7a174e4021" /><Relationship Type="http://schemas.openxmlformats.org/officeDocument/2006/relationships/notesMaster" Target="/ppt/notesMasters/notesMaster1.xml" Id="Rfcb6c8d3db3b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e7cb04c1664caf" /><Relationship Type="http://schemas.openxmlformats.org/officeDocument/2006/relationships/notesMaster" Target="/ppt/notesMasters/notesMaster1.xml" Id="R45d2567890a04f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e15a8501848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8d9692d3b84a67" /><Relationship Type="http://schemas.openxmlformats.org/officeDocument/2006/relationships/slideLayout" Target="/ppt/slideLayouts/slideLayout1.xml" Id="R105ec80da02849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ec80da02849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52db61821488b" /><Relationship Type="http://schemas.openxmlformats.org/officeDocument/2006/relationships/image" Target="/ppt/media/image.jpeg" Id="R8cb8c2cd2568407d" /><Relationship Type="http://schemas.openxmlformats.org/officeDocument/2006/relationships/image" Target="/ppt/media/image.png" Id="R493e2a21939649bf" /><Relationship Type="http://schemas.openxmlformats.org/officeDocument/2006/relationships/notesSlide" Target="/ppt/notesSlides/notesSlide1.xml" Id="R9380053a48e1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233ad2db94fba" /><Relationship Type="http://schemas.openxmlformats.org/officeDocument/2006/relationships/image" Target="/ppt/media/image2.png" Id="R104baab95a5643fb" /><Relationship Type="http://schemas.openxmlformats.org/officeDocument/2006/relationships/notesSlide" Target="/ppt/notesSlides/notesSlide2.xml" Id="R6e450e21c3454a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9e744a5a34783" /><Relationship Type="http://schemas.openxmlformats.org/officeDocument/2006/relationships/image" Target="/ppt/media/image2.jpeg" Id="Ra7f12e4d6d4d4bf3" /><Relationship Type="http://schemas.openxmlformats.org/officeDocument/2006/relationships/notesSlide" Target="/ppt/notesSlides/notesSlide3.xml" Id="R21970dd9ed8147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0e2d6dd3040fb" /><Relationship Type="http://schemas.openxmlformats.org/officeDocument/2006/relationships/image" Target="/ppt/media/image3.jpeg" Id="R8f5d38b8153b46c9" /><Relationship Type="http://schemas.openxmlformats.org/officeDocument/2006/relationships/notesSlide" Target="/ppt/notesSlides/notesSlide4.xml" Id="R04fab23d5b1144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d825735614ebc" /><Relationship Type="http://schemas.openxmlformats.org/officeDocument/2006/relationships/notesSlide" Target="/ppt/notesSlides/notesSlide5.xml" Id="Ra1f7fa9da844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20826731b4a9a" /><Relationship Type="http://schemas.openxmlformats.org/officeDocument/2006/relationships/notesSlide" Target="/ppt/notesSlides/notesSlide6.xml" Id="R5449d82aed764a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de1899514e7e" /><Relationship Type="http://schemas.openxmlformats.org/officeDocument/2006/relationships/image" Target="/ppt/media/image4.jpeg" Id="Rcdffb2924d474d32" /><Relationship Type="http://schemas.openxmlformats.org/officeDocument/2006/relationships/image" Target="/ppt/media/image3.png" Id="R5bf24161dae74222" /><Relationship Type="http://schemas.openxmlformats.org/officeDocument/2006/relationships/notesSlide" Target="/ppt/notesSlides/notesSlide7.xml" Id="R8899c10943a24c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8c2cd2568407d"/>
          <a:srcRect xmlns:a="http://schemas.openxmlformats.org/drawingml/2006/main" l="156" t="0" r="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0"/>
            <a:ext cx="60769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AF96E-3C3B-44EA-9AFD-5D176F7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0"/>
            <a:ext cx="85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e2a21939649bf"/>
          <a:stretch xmlns:a="http://schemas.openxmlformats.org/drawingml/2006/main"/>
        </p:blipFill>
        <p:spPr>
          <a:xfrm xmlns:a="http://schemas.openxmlformats.org/drawingml/2006/main">
            <a:off x="685800" y="523399"/>
            <a:ext cx="2095500" cy="5343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720DD-5521-4E5D-ACEA-F9F530A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Bring new guests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to your counter.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BC5DE-6A88-40A4-9AFA-DDBFDE1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DE9E1"/>
                </a:solidFill>
              </a:defRPr>
            </a:pPr>
            <a:r>
              <a:rPr sz="1650" b="0" i="0">
                <a:solidFill>
                  <a:srgbClr val="DDE9E1"/>
                </a:solidFill>
              </a:rPr>
              <a:t>A curated pickup discovery channel for distinctive food drops.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B5D2E-6EF8-40D2-8931-D6DBBF69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BB6B8-E516-41DD-90B3-A62FB72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Restaurant partner 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2F633-97E6-443A-A514-1FE2DA6C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C1B4"/>
                </a:solidFill>
              </a:defRPr>
            </a:pPr>
            <a:r>
              <a:rPr sz="900" b="1" i="0">
                <a:solidFill>
                  <a:srgbClr val="A8C1B4"/>
                </a:solidFill>
              </a:rPr>
              <a:t>English sales deck  •  v1.0</a:t>
            </a:r>
          </a:p>
        </p:txBody>
      </p:sp>
    </p:spTree>
    <p:extLst>
      <p:ext uri="{BB962C8B-B14F-4D97-AF65-F5344CB8AC3E}">
        <p14:creationId xmlns:p14="http://schemas.microsoft.com/office/powerpoint/2010/main" val="644957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4E218-6242-4F04-A8B8-6DAAB94A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F7D32"/>
                </a:solidFill>
              </a:defRPr>
            </a:pPr>
            <a:r>
              <a:rPr sz="975" b="1" i="0">
                <a:solidFill>
                  <a:srgbClr val="EF7D32"/>
                </a:solidFill>
              </a:rPr>
              <a:t>THE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B7062-80FF-4AA2-BDA0-7FA7B109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4B35"/>
                </a:solidFill>
              </a:defRPr>
            </a:pPr>
            <a:r>
              <a:rPr sz="3225" b="1" i="0">
                <a:solidFill>
                  <a:srgbClr val="164B35"/>
                </a:solidFill>
              </a:rPr>
              <a:t>Curated discovery.</a:t>
            </a:r>
          </a:p>
          <a:p xmlns:a="http://schemas.openxmlformats.org/drawingml/2006/main">
            <a:pPr algn="l">
              <a:defRPr sz="3225" b="1" i="0">
                <a:solidFill>
                  <a:srgbClr val="164B35"/>
                </a:solidFill>
              </a:defRPr>
            </a:pPr>
            <a:r>
              <a:rPr sz="3225" b="1" i="0">
                <a:solidFill>
                  <a:srgbClr val="164B35"/>
                </a:solidFill>
              </a:rPr>
              <a:t>Operational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092C-4379-4AF0-9730-3BAE3EF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381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822"/>
                </a:solidFill>
              </a:defRPr>
            </a:pPr>
            <a:r>
              <a:rPr sz="1575" b="0" i="0">
                <a:solidFill>
                  <a:srgbClr val="1F2822"/>
                </a:solidFill>
              </a:rPr>
              <a:t>goZaika helps diners discover limited food drops, reserve a pickup, and collect directly from the restaurant.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AF9B9-2CFC-4A16-86ED-00C7BD1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43000"/>
            <a:ext cx="2095500" cy="3905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2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89672-3A3D-454B-B07C-CBE48590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43000"/>
            <a:ext cx="2095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CC2B2-4C19-4872-AC50-1592AFCB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62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4B35"/>
                </a:solidFill>
              </a:defRPr>
            </a:pPr>
            <a:r>
              <a:rPr sz="975" b="1" i="0">
                <a:solidFill>
                  <a:srgbClr val="164B35"/>
                </a:solidFill>
              </a:rPr>
              <a:t>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8D33E-F70E-4205-8D09-B3F00E3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1638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822"/>
                </a:solidFill>
              </a:defRPr>
            </a:pPr>
            <a:r>
              <a:rPr sz="1500" b="1" i="0">
                <a:solidFill>
                  <a:srgbClr val="1F2822"/>
                </a:solidFill>
              </a:rPr>
              <a:t>Pickup-first discovery</a:t>
            </a:r>
          </a:p>
          <a:p xmlns:a="http://schemas.openxmlformats.org/drawingml/2006/main">
            <a:pPr algn="l">
              <a:defRPr sz="1500" b="1" i="0">
                <a:solidFill>
                  <a:srgbClr val="1F2822"/>
                </a:solidFill>
              </a:defRPr>
            </a:pPr>
            <a:r>
              <a:rPr sz="1500" b="1" i="0">
                <a:solidFill>
                  <a:srgbClr val="1F2822"/>
                </a:solidFill>
              </a:rPr>
              <a:t>Restaurant-defined drops</a:t>
            </a:r>
          </a:p>
          <a:p xmlns:a="http://schemas.openxmlformats.org/drawingml/2006/main">
            <a:pPr algn="l">
              <a:defRPr sz="1500" b="1" i="0">
                <a:solidFill>
                  <a:srgbClr val="1F2822"/>
                </a:solidFill>
              </a:defRPr>
            </a:pPr>
            <a:r>
              <a:rPr sz="1500" b="1" i="0">
                <a:solidFill>
                  <a:srgbClr val="1F2822"/>
                </a:solidFill>
              </a:rPr>
              <a:t>Direct counter 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DF479-680D-4E7C-BF07-3389AFE6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43000"/>
            <a:ext cx="2095500" cy="3905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2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25BFC-1623-40E7-99E1-911DD85D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43000"/>
            <a:ext cx="2095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B652-7197-4B58-87DB-D64BDAB5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F7D32"/>
                </a:solidFill>
              </a:defRPr>
            </a:pPr>
            <a:r>
              <a:rPr sz="975" b="1" i="0">
                <a:solidFill>
                  <a:srgbClr val="EF7D32"/>
                </a:solidFill>
              </a:rPr>
              <a:t>IS NOT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64821-B50E-4B90-93A8-532E442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1638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822"/>
                </a:solidFill>
              </a:defRPr>
            </a:pPr>
            <a:r>
              <a:rPr sz="1500" b="1" i="0">
                <a:solidFill>
                  <a:srgbClr val="1F2822"/>
                </a:solidFill>
              </a:rPr>
              <a:t>A leftovers marketplace</a:t>
            </a:r>
          </a:p>
          <a:p xmlns:a="http://schemas.openxmlformats.org/drawingml/2006/main">
            <a:pPr algn="l">
              <a:defRPr sz="1500" b="1" i="0">
                <a:solidFill>
                  <a:srgbClr val="1F2822"/>
                </a:solidFill>
              </a:defRPr>
            </a:pPr>
            <a:r>
              <a:rPr sz="1500" b="1" i="0">
                <a:solidFill>
                  <a:srgbClr val="1F2822"/>
                </a:solidFill>
              </a:rPr>
              <a:t>A delivery fleet</a:t>
            </a:r>
          </a:p>
          <a:p xmlns:a="http://schemas.openxmlformats.org/drawingml/2006/main">
            <a:pPr algn="l">
              <a:defRPr sz="1500" b="1" i="0">
                <a:solidFill>
                  <a:srgbClr val="1F2822"/>
                </a:solidFill>
              </a:defRPr>
            </a:pPr>
            <a:r>
              <a:rPr sz="1500" b="1" i="0">
                <a:solidFill>
                  <a:srgbClr val="1F2822"/>
                </a:solidFill>
              </a:rPr>
              <a:t>A promise of guaranteed demand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baab95a5643fb"/>
          <a:stretch xmlns:a="http://schemas.openxmlformats.org/drawingml/2006/main"/>
        </p:blipFill>
        <p:spPr>
          <a:xfrm xmlns:a="http://schemas.openxmlformats.org/drawingml/2006/main">
            <a:off x="685800" y="4210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4EB1C-051D-4830-AD33-76E11BA6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37068"/>
                </a:solidFill>
              </a:defRPr>
            </a:pPr>
            <a:r>
              <a:rPr sz="1275" b="0" i="0">
                <a:solidFill>
                  <a:srgbClr val="637068"/>
                </a:solidFill>
              </a:rPr>
              <a:t>The BAM flavor drop marks the moment a distinctive drop becomes discoverable.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E2F7F-BC9D-4171-9E0C-91F8AA1A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gozaika.in  •  partners@gozaika.in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36A49-6E68-47CD-80B5-3E55E2B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5944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C267A0-B0F0-4AA5-84D6-EF893712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F7D32"/>
                </a:solidFill>
              </a:defRPr>
            </a:pPr>
            <a:r>
              <a:rPr sz="975" b="1" i="0">
                <a:solidFill>
                  <a:srgbClr val="EF7D32"/>
                </a:solidFill>
              </a:rPr>
              <a:t>DINER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677B6-7B0D-463B-B371-FEF7EFF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4B35"/>
                </a:solidFill>
              </a:defRPr>
            </a:pPr>
            <a:r>
              <a:rPr sz="2850" b="1" i="0">
                <a:solidFill>
                  <a:srgbClr val="164B35"/>
                </a:solidFill>
              </a:rPr>
              <a:t>Three clear moments from interest to pickup.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12C5-A5B5-4BAD-AE6E-BA9B4BA1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24100" cy="29146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F4BF-18FC-4013-9A36-F2B25D59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F7D32"/>
                </a:solidFill>
              </a:defRPr>
            </a:pPr>
            <a:r>
              <a:rPr sz="1050" b="1" i="0">
                <a:solidFill>
                  <a:srgbClr val="EF7D3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51FE4-7F36-41A9-99E8-B8BCEFC7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64B35"/>
                </a:solidFill>
              </a:defRPr>
            </a:pPr>
            <a:r>
              <a:rPr sz="2025" b="1" i="0">
                <a:solidFill>
                  <a:srgbClr val="164B35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21661-B75C-4C99-A898-53AA99B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822"/>
                </a:solidFill>
              </a:defRPr>
            </a:pPr>
            <a:r>
              <a:rPr sz="1275" b="0" i="0">
                <a:solidFill>
                  <a:srgbClr val="1F2822"/>
                </a:solidFill>
              </a:rPr>
              <a:t>See a curated drop and its pickup details.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0144-A013-4C32-A239-675D22C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76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EF7D32"/>
                </a:solidFill>
              </a:defRPr>
            </a:pPr>
            <a:r>
              <a:rPr sz="1950" b="1" i="0">
                <a:solidFill>
                  <a:srgbClr val="EF7D3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39DE-3FAF-4FD6-BEED-69967C8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324100" cy="29146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2A892-5943-4513-85CB-38BF1B6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7B64B"/>
                </a:solidFill>
              </a:defRPr>
            </a:pPr>
            <a:r>
              <a:rPr sz="1050" b="1" i="0">
                <a:solidFill>
                  <a:srgbClr val="E7B64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CC6C3-5466-4B16-967E-DD4F2964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Reserve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753A6-ABE7-4102-96A8-066E4F49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861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9E1"/>
                </a:solidFill>
              </a:defRPr>
            </a:pPr>
            <a:r>
              <a:rPr sz="1275" b="0" i="0">
                <a:solidFill>
                  <a:srgbClr val="DDE9E1"/>
                </a:solidFill>
              </a:rPr>
              <a:t>Choose an available pickup window and quantity.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38BAB-C6D6-48F1-9FBB-362CC7A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76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EF7D32"/>
                </a:solidFill>
              </a:defRPr>
            </a:pPr>
            <a:r>
              <a:rPr sz="1950" b="1" i="0">
                <a:solidFill>
                  <a:srgbClr val="EF7D3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7FF9D-EC73-42F5-9EF8-5EDE3F5E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324100" cy="29146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6A92E-49D5-4394-9BCA-F112872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F7D32"/>
                </a:solidFill>
              </a:defRPr>
            </a:pPr>
            <a:r>
              <a:rPr sz="1050" b="1" i="0">
                <a:solidFill>
                  <a:srgbClr val="EF7D3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58B02-4D8B-4A06-BD41-8D2C61F6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64B35"/>
                </a:solidFill>
              </a:defRPr>
            </a:pPr>
            <a:r>
              <a:rPr sz="2025" b="1" i="0">
                <a:solidFill>
                  <a:srgbClr val="164B35"/>
                </a:solidFill>
              </a:rPr>
              <a:t>Collect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4AA5A-2487-4E5F-9A7B-4A8F4C0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822"/>
                </a:solidFill>
              </a:defRPr>
            </a:pPr>
            <a:r>
              <a:rPr sz="1275" b="0" i="0">
                <a:solidFill>
                  <a:srgbClr val="1F2822"/>
                </a:solidFill>
              </a:rPr>
              <a:t>Pick up directly at the restaurant counter.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12e4d6d4d4bf3"/>
          <a:srcRect xmlns:a="http://schemas.openxmlformats.org/drawingml/2006/main" l="0" t="256" r="0" b="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4450" y="1676400"/>
            <a:ext cx="2571750" cy="369570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CA6A3-6158-4E65-B876-8B8231E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B62FB-2562-462F-9B31-2A510B06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4B35"/>
                </a:solidFill>
              </a:defRPr>
            </a:pPr>
            <a:r>
              <a:rPr sz="975" b="1" i="0">
                <a:solidFill>
                  <a:srgbClr val="164B35"/>
                </a:solidFill>
              </a:rPr>
              <a:t>Pickup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B93F0-8E9E-4928-BE5D-8552C3B3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102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41AF5-D905-4C9C-A4EC-BFD39BF9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864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4B35"/>
                </a:solidFill>
              </a:defRPr>
            </a:pPr>
            <a:r>
              <a:rPr sz="975" b="1" i="0">
                <a:solidFill>
                  <a:srgbClr val="164B35"/>
                </a:solidFill>
              </a:rPr>
              <a:t>No delivery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6DD71-54B9-439A-99A6-96E6F51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gozaika.in  •  partners@gozaika.in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7E649-D495-4556-97CC-803402A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9969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4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d38b8153b46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686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42E46-CE05-4D35-814A-C3B5FD9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4099F-9257-4BBA-AA6F-91926701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B64B"/>
                </a:solidFill>
              </a:defRPr>
            </a:pPr>
            <a:r>
              <a:rPr sz="975" b="1" i="0">
                <a:solidFill>
                  <a:srgbClr val="E7B64B"/>
                </a:solidFill>
              </a:rPr>
              <a:t>RESTAURANT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BFE7B-03D2-4AC4-A6AF-AD47F2FA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02870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You define the drop.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We structure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89EB7-D5B2-40E4-B6DD-69D31483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914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E760A-D532-466A-A173-2012A1B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7B64B"/>
                </a:solidFill>
              </a:defRPr>
            </a:pPr>
            <a:r>
              <a:rPr sz="900" b="1" i="0">
                <a:solidFill>
                  <a:srgbClr val="E7B64B"/>
                </a:solidFill>
              </a:rPr>
              <a:t>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82916-A4D1-4FAD-A56C-C3D2AC9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6EFEA"/>
                </a:solidFill>
              </a:defRPr>
            </a:pPr>
            <a:r>
              <a:rPr sz="1275" b="0" i="0">
                <a:solidFill>
                  <a:srgbClr val="E6EFEA"/>
                </a:solidFill>
              </a:rPr>
              <a:t>Choose the item, available quantity, pickup window, and disclosures.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C2AB3-029A-44AC-8758-ADC3902E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914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5C3EF-4DA8-4571-BDBE-C19AA2AA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766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7B64B"/>
                </a:solidFill>
              </a:defRPr>
            </a:pPr>
            <a:r>
              <a:rPr sz="900" b="1" i="0">
                <a:solidFill>
                  <a:srgbClr val="E7B64B"/>
                </a:solidFill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14025-E8BB-4634-A03B-3293760D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092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6EFEA"/>
                </a:solidFill>
              </a:defRPr>
            </a:pPr>
            <a:r>
              <a:rPr sz="1275" b="0" i="0">
                <a:solidFill>
                  <a:srgbClr val="E6EFEA"/>
                </a:solidFill>
              </a:rPr>
              <a:t>Confirm the listing details before the drop is published.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EF428-A22C-4FC0-8B82-454DE4D7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914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C5A62-5641-4064-B37C-C104B5B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720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7B64B"/>
                </a:solidFill>
              </a:defRPr>
            </a:pPr>
            <a:r>
              <a:rPr sz="900" b="1" i="0">
                <a:solidFill>
                  <a:srgbClr val="E7B64B"/>
                </a:solidFill>
              </a:rPr>
              <a:t>FULFIL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8CF0E-6362-4F8C-8833-D388889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6EFEA"/>
                </a:solidFill>
              </a:defRPr>
            </a:pPr>
            <a:r>
              <a:rPr sz="1275" b="0" i="0">
                <a:solidFill>
                  <a:srgbClr val="E6EFEA"/>
                </a:solidFill>
              </a:rPr>
              <a:t>Prepare confirmed reservations for direct counter collection.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2EF51-329A-4A98-A941-E20500CB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00700"/>
            <a:ext cx="2933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7DEA9-3894-4F29-A11A-1E311045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76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No POS replacement required initially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C5AF6-F4E0-4B96-8058-5886FECF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DE9E1"/>
                </a:solidFill>
              </a:defRPr>
            </a:pPr>
            <a:r>
              <a:rPr sz="900" b="1" i="0">
                <a:solidFill>
                  <a:srgbClr val="DDE9E1"/>
                </a:solidFill>
              </a:rPr>
              <a:t>gozaika.in  •  partners@gozaika.in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0E8CD-8065-415C-8029-4A09411A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DE9E1"/>
                </a:solidFill>
              </a:defRPr>
            </a:pPr>
            <a:r>
              <a:rPr sz="900" b="1" i="0">
                <a:solidFill>
                  <a:srgbClr val="DDE9E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091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63930-ACC4-4427-A05B-EDB8178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F7D32"/>
                </a:solidFill>
              </a:defRPr>
            </a:pPr>
            <a:r>
              <a:rPr sz="975" b="1" i="0">
                <a:solidFill>
                  <a:srgbClr val="EF7D32"/>
                </a:solidFill>
              </a:rPr>
              <a:t>PARTNER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36033-614C-4F13-8E1F-A5E576A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4B35"/>
                </a:solidFill>
              </a:defRPr>
            </a:pPr>
            <a:r>
              <a:rPr sz="2850" b="1" i="0">
                <a:solidFill>
                  <a:srgbClr val="164B35"/>
                </a:solidFill>
              </a:rPr>
              <a:t>Built around the realities of a live kitchen.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55B28-C74E-4A7E-BB31-38209958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2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38E06-27E6-4B9D-B2F0-39E14640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13B46-381C-431C-930C-415C1F2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43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09C41-928D-488D-845F-3E669239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4B35"/>
                </a:solidFill>
              </a:defRPr>
            </a:pPr>
            <a:r>
              <a:rPr sz="1650" b="1" i="0">
                <a:solidFill>
                  <a:srgbClr val="164B35"/>
                </a:solidFill>
              </a:rPr>
              <a:t>Quantity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8D1F9-698D-43ED-BA9F-201FF19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068"/>
                </a:solidFill>
              </a:defRPr>
            </a:pPr>
            <a:r>
              <a:rPr sz="1200" b="0" i="0">
                <a:solidFill>
                  <a:srgbClr val="637068"/>
                </a:solidFill>
              </a:rPr>
              <a:t>Set the number available for each drop.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130FE-330A-4636-93EC-7CEB011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2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64B2E-C92D-4228-B5EC-0B2C2136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D246F-D71C-4323-B53B-9500393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1C051-6A41-47AF-8360-A8F87773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4B35"/>
                </a:solidFill>
              </a:defRPr>
            </a:pPr>
            <a:r>
              <a:rPr sz="1650" b="1" i="0">
                <a:solidFill>
                  <a:srgbClr val="164B35"/>
                </a:solidFill>
              </a:rPr>
              <a:t>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C9774-408D-4E72-BF4F-0E072DD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068"/>
                </a:solidFill>
              </a:defRPr>
            </a:pPr>
            <a:r>
              <a:rPr sz="1200" b="0" i="0">
                <a:solidFill>
                  <a:srgbClr val="637068"/>
                </a:solidFill>
              </a:rPr>
              <a:t>Define pickup windows your team can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FE826-F718-475A-A151-8EB023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2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73230-C40B-4B8D-9DAC-1791950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B36D1-3F0D-4C7E-9D37-B950BB3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C2113-DD95-4AF5-996F-87FDB661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4B35"/>
                </a:solidFill>
              </a:defRPr>
            </a:pPr>
            <a:r>
              <a:rPr sz="1650" b="1" i="0">
                <a:solidFill>
                  <a:srgbClr val="164B35"/>
                </a:solidFill>
              </a:rPr>
              <a:t>Disclosure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4ACBF-F27B-4493-B774-C396B80F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196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068"/>
                </a:solidFill>
              </a:defRPr>
            </a:pPr>
            <a:r>
              <a:rPr sz="1200" b="0" i="0">
                <a:solidFill>
                  <a:srgbClr val="637068"/>
                </a:solidFill>
              </a:rPr>
              <a:t>Provide accurate ingredients and allergen information.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EEA83-0F26-4EE1-9E09-6856862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2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F19FF-5F95-432F-A9BF-C302833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DE88E-6C0E-45FE-A217-D626F75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75284-C0E3-46C0-A2A9-BCF83F08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81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4B35"/>
                </a:solidFill>
              </a:defRPr>
            </a:pPr>
            <a:r>
              <a:rPr sz="1650" b="1" i="0">
                <a:solidFill>
                  <a:srgbClr val="164B35"/>
                </a:solidFill>
              </a:rPr>
              <a:t>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F0955-95FB-4CC2-B615-C11005F1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068"/>
                </a:solidFill>
              </a:defRPr>
            </a:pPr>
            <a:r>
              <a:rPr sz="1200" b="0" i="0">
                <a:solidFill>
                  <a:srgbClr val="637068"/>
                </a:solidFill>
              </a:rPr>
              <a:t>Publish only when the team and counter are prepared.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F1434-1CDD-4DC4-95E8-178C487C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637068"/>
                </a:solidFill>
              </a:defRPr>
            </a:pPr>
            <a:r>
              <a:rPr sz="1125" b="0" i="1">
                <a:solidFill>
                  <a:srgbClr val="637068"/>
                </a:solidFill>
              </a:rPr>
              <a:t>Operational details are agreed during onboarding; restaurants remain responsible for food safety and listing accuracy.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35F63-6724-42FF-BDA2-463F11A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gozaika.in  •  partners@gozaika.in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E5AAB-89E3-4989-B88C-56E7CFD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5158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41CFF-D62E-4B29-A10F-69D4F1E4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F7D32"/>
                </a:solidFill>
              </a:defRPr>
            </a:pPr>
            <a:r>
              <a:rPr sz="975" b="1" i="0">
                <a:solidFill>
                  <a:srgbClr val="EF7D32"/>
                </a:solidFill>
              </a:rPr>
              <a:t>PILOT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A72A7-E7AF-4C42-A920-0A2E8EE2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4B35"/>
                </a:solidFill>
              </a:defRPr>
            </a:pPr>
            <a:r>
              <a:rPr sz="2850" b="1" i="0">
                <a:solidFill>
                  <a:srgbClr val="164B35"/>
                </a:solidFill>
              </a:rPr>
              <a:t>A useful first conversation starts here.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5D71F-73AD-4EA2-8742-505EFAE8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98ED9-385A-4FEE-9456-72273742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EED14-83FC-428D-8E39-50C97AB9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822"/>
                </a:solidFill>
              </a:defRPr>
            </a:pPr>
            <a:r>
              <a:rPr sz="1425" b="1" i="0">
                <a:solidFill>
                  <a:srgbClr val="1F2822"/>
                </a:solidFill>
              </a:rPr>
              <a:t>A distinctive item suited to scheduled pickup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68DAF-04FF-4B35-8928-7A8593C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CDA59-A5A1-4007-80A1-B550B3BE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F80F8-8C68-47DB-ADE8-5D4F130F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822"/>
                </a:solidFill>
              </a:defRPr>
            </a:pPr>
            <a:r>
              <a:rPr sz="1425" b="1" i="0">
                <a:solidFill>
                  <a:srgbClr val="1F2822"/>
                </a:solidFill>
              </a:rPr>
              <a:t>A realistic quantity and pickup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9A906-470E-434F-A846-2A0182C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30815-CE79-411D-9920-6E42B009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2C908-8812-4BAC-9283-9E4001EE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822"/>
                </a:solidFill>
              </a:defRPr>
            </a:pPr>
            <a:r>
              <a:rPr sz="1425" b="1" i="0">
                <a:solidFill>
                  <a:srgbClr val="1F2822"/>
                </a:solidFill>
              </a:rPr>
              <a:t>Clear ingredient and allergen disclosures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14F65-061F-48AF-80EE-CAFA9F5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37C88-1062-4238-9503-226DC53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AEB11-3488-40CB-BA34-99EA46F4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822"/>
                </a:solidFill>
              </a:defRPr>
            </a:pPr>
            <a:r>
              <a:rPr sz="1425" b="1" i="0">
                <a:solidFill>
                  <a:srgbClr val="1F2822"/>
                </a:solidFill>
              </a:rPr>
              <a:t>A counter workflow for confirmed reservations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DACB8-9751-4DC2-B5DE-4FA7B811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33550"/>
            <a:ext cx="40195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BB25E-7669-4A17-9BB2-4F5749B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7B64B"/>
                </a:solidFill>
              </a:defRPr>
            </a:pPr>
            <a:r>
              <a:rPr sz="975" b="1" i="0">
                <a:solidFill>
                  <a:srgbClr val="E7B64B"/>
                </a:solidFill>
              </a:rPr>
              <a:t>COMMERCIAL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B3D0B-FE2D-497B-B513-C4CA4493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Commercial terms are discussed during partner qualification.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5D640-EF5B-40BB-93A8-6CEF3F3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433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9E1"/>
                </a:solidFill>
              </a:defRPr>
            </a:pPr>
            <a:r>
              <a:rPr sz="1200" b="0" i="0">
                <a:solidFill>
                  <a:srgbClr val="DDE9E1"/>
                </a:solidFill>
              </a:rPr>
              <a:t>No numeric pricing, revenue, demand, or conversion promise is implied in this deck.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BDA78-EBE1-43CE-9839-BBFB117C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657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6FF2C-0F8A-4914-AE8F-DA278450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4B35"/>
                </a:solidFill>
              </a:defRPr>
            </a:pPr>
            <a:r>
              <a:rPr sz="975" b="1" i="0">
                <a:solidFill>
                  <a:srgbClr val="164B35"/>
                </a:solidFill>
              </a:rPr>
              <a:t>Clear before clever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80CA4-0B74-4D36-A56A-1D25FE82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14950"/>
            <a:ext cx="2019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D5C9B-7B96-47A5-9F29-F91D9CE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4B35"/>
                </a:solidFill>
              </a:defRPr>
            </a:pPr>
            <a:r>
              <a:rPr sz="975" b="1" i="0">
                <a:solidFill>
                  <a:srgbClr val="164B35"/>
                </a:solidFill>
              </a:rPr>
              <a:t>Specific before sweeping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E9348-9CF5-4DF8-8947-7B4BDE1F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gozaika.in  •  partners@gozaika.in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175B1-DE30-462B-BB63-262E55E6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068"/>
                </a:solidFill>
              </a:defRPr>
            </a:pPr>
            <a:r>
              <a:rPr sz="900" b="1" i="0">
                <a:solidFill>
                  <a:srgbClr val="6370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9571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3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fb2924d474d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02A86-16FB-41A6-B484-9BA26F2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24161dae74222"/>
          <a:stretch xmlns:a="http://schemas.openxmlformats.org/drawingml/2006/main"/>
        </p:blipFill>
        <p:spPr>
          <a:xfrm xmlns:a="http://schemas.openxmlformats.org/drawingml/2006/main">
            <a:off x="685800" y="523399"/>
            <a:ext cx="2095500" cy="5343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F10A2-2FB6-4C5A-B27B-567274B4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52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Let’s see whether your next drop belongs on goZaika.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62058-EA88-44AD-A420-073C6845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20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DE9E1"/>
                </a:solidFill>
              </a:defRPr>
            </a:pPr>
            <a:r>
              <a:rPr sz="1500" b="0" i="0">
                <a:solidFill>
                  <a:srgbClr val="DDE9E1"/>
                </a:solidFill>
              </a:rPr>
              <a:t>Start with one item, one pickup window, and an honest operational conversation.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F851A-8485-439D-9FF2-F3856B5B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59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0CE5F-B0AE-41D3-9780-5774324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partners@gozaika.in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ADB60-0C94-45FE-B2DE-7FF892F9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gozaika.in/for-restaurants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7523-7569-44D9-ABD4-298CF7EC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BB7A8"/>
                </a:solidFill>
              </a:defRPr>
            </a:pPr>
            <a:r>
              <a:rPr sz="900" b="1" i="0">
                <a:solidFill>
                  <a:srgbClr val="9BB7A8"/>
                </a:solidFill>
              </a:rPr>
              <a:t>Restaurant partner introduction  •  English v1.0</a:t>
            </a:r>
          </a:p>
        </p:txBody>
      </p:sp>
    </p:spTree>
    <p:extLst>
      <p:ext uri="{BB962C8B-B14F-4D97-AF65-F5344CB8AC3E}">
        <p14:creationId xmlns:p14="http://schemas.microsoft.com/office/powerpoint/2010/main" val="224985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2026-06-22T11:36:08.1240000Z</dcterms:created>
  <dcterms:modified xsi:type="dcterms:W3CDTF">2026-06-22T11:36:08.1250000Z</dcterms:modified>
</coreProperties>
</file>